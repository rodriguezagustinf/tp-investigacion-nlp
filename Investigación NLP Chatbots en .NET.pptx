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JetBrains Mono Medium"/>
      <p:regular r:id="rId19"/>
      <p:bold r:id="rId20"/>
      <p:italic r:id="rId21"/>
      <p:boldItalic r:id="rId22"/>
    </p:embeddedFont>
    <p:embeddedFont>
      <p:font typeface="Urbanist SemiBold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  <p:embeddedFont>
      <p:font typeface="JetBrains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57B5E7-9B54-4B2F-AA95-92284B6A8388}">
  <a:tblStyle styleId="{CA57B5E7-9B54-4B2F-AA95-92284B6A83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Medium-bold.fntdata"/><Relationship Id="rId22" Type="http://schemas.openxmlformats.org/officeDocument/2006/relationships/font" Target="fonts/JetBrainsMonoMedium-boldItalic.fntdata"/><Relationship Id="rId21" Type="http://schemas.openxmlformats.org/officeDocument/2006/relationships/font" Target="fonts/JetBrainsMonoMedium-italic.fntdata"/><Relationship Id="rId24" Type="http://schemas.openxmlformats.org/officeDocument/2006/relationships/font" Target="fonts/UrbanistSemiBold-bold.fntdata"/><Relationship Id="rId23" Type="http://schemas.openxmlformats.org/officeDocument/2006/relationships/font" Target="fonts/Urbanis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boldItalic.fntdata"/><Relationship Id="rId25" Type="http://schemas.openxmlformats.org/officeDocument/2006/relationships/font" Target="fonts/UrbanistSemiBold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regular.fntdata"/><Relationship Id="rId3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33" Type="http://schemas.openxmlformats.org/officeDocument/2006/relationships/font" Target="fonts/JetBrainsMono-italic.fntdata"/><Relationship Id="rId10" Type="http://schemas.openxmlformats.org/officeDocument/2006/relationships/slide" Target="slides/slide4.xml"/><Relationship Id="rId32" Type="http://schemas.openxmlformats.org/officeDocument/2006/relationships/font" Target="fonts/JetBrains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JetBrainsMon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JetBrainsMono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35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15.png"/><Relationship Id="rId7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28.png"/><Relationship Id="rId7" Type="http://schemas.openxmlformats.org/officeDocument/2006/relationships/image" Target="../media/image10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9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9.png"/><Relationship Id="rId7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Relationship Id="rId6" Type="http://schemas.openxmlformats.org/officeDocument/2006/relationships/image" Target="../media/image23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0" y="4299346"/>
            <a:ext cx="24003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6650" y="4299346"/>
            <a:ext cx="16573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24500" y="4299346"/>
            <a:ext cx="24574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72450" y="4299346"/>
            <a:ext cx="2933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19650" y="4908946"/>
            <a:ext cx="25527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172030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PROGRAMACIÓN WEB 3 - UNLAM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95275" y="2314575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NLP CHATBOTS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INTEGRACIÓN .NET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5619750" y="2689770"/>
            <a:ext cx="9525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655820" y="3203227"/>
            <a:ext cx="288036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OBJETIVO DEL PROYECTO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386137" y="3859559"/>
            <a:ext cx="54197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Analizar el uso de NLP Chatbots en el ecosistema .NET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8033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248513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Enfoque Principal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303758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Analizar cómo se integran los modelos de lenguaje modernos (LLMs), la comprensión de intención y la orquestación de herramientas dentro de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ASP.NET Core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8985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414248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Comparar enfoques actuales de IA.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59015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Proponer una arquitectura base mantenible.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503783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Identificar mejores prácticas de seguridad.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9486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4254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90219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Objetivo de la Investigación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5619750" y="2689770"/>
            <a:ext cx="9525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4955857" y="3203227"/>
            <a:ext cx="22802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SITUACIÓN ACTUAL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3086100" y="3859559"/>
            <a:ext cx="6019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evolución desde reglas simples hacia agentes inteligentes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3757"/>
            <a:ext cx="243066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2913757"/>
            <a:ext cx="243066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60" y="2913757"/>
            <a:ext cx="243066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9541" y="2913757"/>
            <a:ext cx="243066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481475" y="2618482"/>
            <a:ext cx="110490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691580" y="253275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4564260" y="253275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7436941" y="253275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10309621" y="253275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720759" y="3418582"/>
            <a:ext cx="213214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Chatbots Tradicionales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71525" y="4332982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Basados en árboles de decisión y reglas estáticas.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3593440" y="3418582"/>
            <a:ext cx="213214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Era NLU (CLU)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3644205" y="3971032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Clasificación de intenciones y extracción de entidades.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466120" y="3418582"/>
            <a:ext cx="213214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Modelos Generativos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516885" y="4332982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LLMs capaces de razonar y generar texto natural.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338801" y="3418582"/>
            <a:ext cx="213214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Agentes Modernos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389566" y="4332982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Orquestación en .NET con Semantic Kernel y RAG.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Evolución de los Asistentes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7982"/>
            <a:ext cx="33337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0" y="2427982"/>
            <a:ext cx="38100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6750" y="2427982"/>
            <a:ext cx="33337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866775" y="3485257"/>
            <a:ext cx="28803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Semantic Kernel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66775" y="4037707"/>
            <a:ext cx="2743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SDK liviano para integrar modelos de IA. Permite conectar prompts con funciones C# para ejecutar acciones reales.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486275" y="3485257"/>
            <a:ext cx="33804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Microsoft.Extensions.AI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486275" y="4037707"/>
            <a:ext cx="3219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Nuevas abstracciones (IChatClient) que permiten desacoplar la aplicación del proveedor de modelos (OpenAI, Azure, local).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582025" y="3485257"/>
            <a:ext cx="288036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Azure OpenAI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582025" y="4037707"/>
            <a:ext cx="2743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Infraestructura empresarial para LLMs con seguridad Entra ID y Responses API para conversaciones con estado.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86275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82025" y="275183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Tecnologías en el Ecosistema .NET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7982"/>
            <a:ext cx="2547937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427982"/>
            <a:ext cx="2547937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427982"/>
            <a:ext cx="2547937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427982"/>
            <a:ext cx="2547937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866775" y="3485257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Comprensión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66775" y="4037707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Identifica intención, entidades y contexto de la consulta inicial.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3700462" y="3485257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Generación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3700462" y="4037707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Redacta respuestas naturales utilizando modelos de lenguaje avanzados.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534150" y="3485257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Orquestación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534150" y="4037707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Decide cuándo llamar a una API, consultar base de datos o usar herramientas.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367837" y="3485257"/>
            <a:ext cx="205525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Control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367837" y="4037707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Aplica validaciones, políticas de seguridad y límites de costos.</a:t>
            </a:r>
            <a:endParaRPr/>
          </a:p>
        </p:txBody>
      </p:sp>
      <p:pic>
        <p:nvPicPr>
          <p:cNvPr descr="image.png" id="185" name="Google Shape;18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0462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75183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7837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Capas de un Diseño Moderno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1307"/>
            <a:ext cx="5286375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61307"/>
            <a:ext cx="5286375" cy="3448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p20"/>
          <p:cNvGraphicFramePr/>
          <p:nvPr/>
        </p:nvGraphicFramePr>
        <p:xfrm>
          <a:off x="581025" y="2370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{CA57B5E7-9B54-4B2F-AA95-92284B6A8388}</a:tableStyleId>
              </a:tblPr>
              <a:tblGrid>
                <a:gridCol w="1359700"/>
                <a:gridCol w="1882825"/>
                <a:gridCol w="202480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Responsabilidad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Tecnología .NET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API Web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Endpoint REST para cliente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ASP.NET Core Minimal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Abstracción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Desacoplar proveedor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Microsoft.Extensions.AI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Orquestación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Conectar prompts y plugins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Semantic Kernel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Generación y razonamiento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Azure OpenAI / OpenAI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370832"/>
            <a:ext cx="5267325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/>
          <p:nvPr/>
        </p:nvSpPr>
        <p:spPr>
          <a:xfrm>
            <a:off x="581025" y="2923282"/>
            <a:ext cx="135969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940718" y="2923282"/>
            <a:ext cx="188282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823543" y="2923282"/>
            <a:ext cx="202480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81025" y="3651944"/>
            <a:ext cx="13596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940718" y="3651944"/>
            <a:ext cx="18828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823543" y="3651944"/>
            <a:ext cx="20248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581025" y="4366319"/>
            <a:ext cx="13596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940718" y="4366319"/>
            <a:ext cx="18828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823543" y="4366319"/>
            <a:ext cx="20248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81025" y="5080694"/>
            <a:ext cx="13596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940718" y="5080694"/>
            <a:ext cx="18828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823543" y="5080694"/>
            <a:ext cx="20248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Arquitectura Propuesta en .NET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0" y="2370825"/>
            <a:ext cx="5286374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571500" y="1619250"/>
            <a:ext cx="110490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highlight>
                  <a:srgbClr val="0F172A"/>
                </a:highlight>
                <a:latin typeface="JetBrains Mono Medium"/>
                <a:ea typeface="JetBrains Mono Medium"/>
                <a:cs typeface="JetBrains Mono Medium"/>
                <a:sym typeface="JetBrains Mono Medium"/>
              </a:rPr>
              <a:t>Program.cs</a:t>
            </a:r>
            <a:endParaRPr sz="1250">
              <a:solidFill>
                <a:srgbClr val="F8F8F2"/>
              </a:solidFill>
              <a:highlight>
                <a:srgbClr val="0F172A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38BDF8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app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.MapPost(</a:t>
            </a:r>
            <a:r>
              <a:rPr lang="en-US" sz="1250">
                <a:solidFill>
                  <a:srgbClr val="A7F3D0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"/api/chat"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250">
                <a:solidFill>
                  <a:srgbClr val="F472B6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async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lang="en-US" sz="1250">
                <a:solidFill>
                  <a:srgbClr val="22D3EE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ChatRequest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request, </a:t>
            </a:r>
            <a:r>
              <a:rPr lang="en-US" sz="1250">
                <a:solidFill>
                  <a:srgbClr val="22D3EE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ChatClient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client) =&gt; {</a:t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472B6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lang="en-US" sz="1250">
                <a:solidFill>
                  <a:srgbClr val="22D3EE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.IsNullOrWhiteSpace(request.Message))</a:t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472B6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50">
                <a:solidFill>
                  <a:srgbClr val="22D3EE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Results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.BadRequest(</a:t>
            </a:r>
            <a:r>
              <a:rPr lang="en-US" sz="1250">
                <a:solidFill>
                  <a:srgbClr val="A7F3D0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"Vacío"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1" lang="en-US" sz="1250">
                <a:solidFill>
                  <a:srgbClr val="64748B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Llamada asincrónica al modelo de IA</a:t>
            </a:r>
            <a:endParaRPr i="1" sz="1250">
              <a:solidFill>
                <a:srgbClr val="64748B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472B6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var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completion = </a:t>
            </a:r>
            <a:r>
              <a:rPr lang="en-US" sz="1250">
                <a:solidFill>
                  <a:srgbClr val="F472B6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client.CompleteChatAsync(</a:t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A7F3D0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$"Respondé como asistente técnico: {request.Message}"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472B6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50">
                <a:solidFill>
                  <a:srgbClr val="22D3EE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Results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.Ok(</a:t>
            </a:r>
            <a:r>
              <a:rPr lang="en-US" sz="1250">
                <a:solidFill>
                  <a:srgbClr val="F472B6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new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50">
                <a:solidFill>
                  <a:srgbClr val="22D3EE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ChatResponse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(completion.Content[0].Text));</a:t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});</a:t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1" lang="en-US" sz="1250">
                <a:solidFill>
                  <a:srgbClr val="64748B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DTOs de comunicación</a:t>
            </a:r>
            <a:endParaRPr i="1" sz="1250">
              <a:solidFill>
                <a:srgbClr val="64748B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472B6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record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50">
                <a:solidFill>
                  <a:srgbClr val="22D3EE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ChatRequest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50">
                <a:solidFill>
                  <a:srgbClr val="22D3EE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Message);</a:t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50">
                <a:solidFill>
                  <a:srgbClr val="F472B6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public record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50">
                <a:solidFill>
                  <a:srgbClr val="22D3EE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ChatResponse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50">
                <a:solidFill>
                  <a:srgbClr val="22D3EE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sz="1250">
                <a:solidFill>
                  <a:srgbClr val="F8F8F2"/>
                </a:solidFill>
                <a:highlight>
                  <a:srgbClr val="0B1329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Answer);</a:t>
            </a:r>
            <a:endParaRPr sz="1250">
              <a:solidFill>
                <a:srgbClr val="F8F8F2"/>
              </a:solidFill>
              <a:highlight>
                <a:srgbClr val="0B1329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71500" y="5524500"/>
            <a:ext cx="11049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* Nota: Las claves API deben manejarse mediante Variables de Entorno o Secret Manager.</a:t>
            </a:r>
            <a:endParaRPr b="0" i="0" sz="11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762000" y="950862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Implementación: Minimal API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950862"/>
            <a:ext cx="76200" cy="552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5632"/>
            <a:ext cx="5286375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75632"/>
            <a:ext cx="5286375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895350" y="3275707"/>
            <a:ext cx="490061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Ventajas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657975" y="3275707"/>
            <a:ext cx="490061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Riesgos</a:t>
            </a:r>
            <a:endParaRPr/>
          </a:p>
        </p:txBody>
      </p:sp>
      <p:pic>
        <p:nvPicPr>
          <p:cNvPr descr="image.png" id="233" name="Google Shape;23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329475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895350" y="382815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UX Conversacional fluida.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895350" y="413295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Integración con APIs propias.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95350" y="443775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Desarrollo incremental y modular.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95350" y="474255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Portabilidad con abstracciones AI.</a:t>
            </a:r>
            <a:endParaRPr/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7975" y="329475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6657975" y="382815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Alucinaciones del modelo.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657975" y="413295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Privacidad de datos sensibles.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657975" y="443775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Costos de consumo por token.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657975" y="4742557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Latencia mayor a consultas REST.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Solución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952500" y="303758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Inyección de Dependencias: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Separar la lógica conversacional en servicios inyectables (ChatbotService).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52500" y="348525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Gestión de Secretos: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Nunca exponer API Keys; usar Azure Key Vault o Environment Variables.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952500" y="393293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Pruebas Automatizadas: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Implementar tests con respuestas simuladas para casos ambiguos o maliciosos.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952500" y="438060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Telemetría: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Registrar métricas de tokens usados, latencia y satisfacción del usuario.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952500" y="482828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Uso de RAG: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Preferir fuentes internas verificadas para evitar respuestas incorrectas sobre el dominio.</a:t>
            </a:r>
            <a:endParaRPr/>
          </a:p>
        </p:txBody>
      </p:sp>
      <p:pic>
        <p:nvPicPr>
          <p:cNvPr descr="image.png" id="255" name="Google Shape;2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7568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2335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710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187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6638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Buenas Prácticas en .NET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295275" y="1337369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CONCLUSIONES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2286000" y="288414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Un chatbot integrado a .NET debe tratarse como una </a:t>
            </a:r>
            <a:r>
              <a:rPr b="1" i="0" lang="en-US" sz="18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pieza de software mantenible</a:t>
            </a:r>
            <a:r>
              <a:rPr b="0" i="0" lang="en-US" sz="18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, no como una simple llamada a una API externa.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571500" y="5558581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¡Muchas gracias por su atención!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1809750" y="4186981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El éxito depende del diseño completo: datos, prompts y monitoreo.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6191250" y="4186981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.NET 10 y Semantic Kernel ofrecen las mejores bases actuales.</a:t>
            </a:r>
            <a:endParaRPr/>
          </a:p>
        </p:txBody>
      </p:sp>
      <p:pic>
        <p:nvPicPr>
          <p:cNvPr descr="image.png" id="272" name="Google Shape;27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24413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4244131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